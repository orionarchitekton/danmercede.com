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Runtime Governance</a:t>
            </a:r>
            <a:endParaRPr lang="en-US" sz="4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Enterprise AI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2834640"/>
            <a:ext cx="2286000" cy="0"/>
          </a:xfrm>
          <a:prstGeom prst="line">
            <a:avLst/>
          </a:prstGeom>
          <a:noFill/>
          <a:ln w="25400">
            <a:solidFill>
              <a:srgbClr val="B87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30175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D49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Briefing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38404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 Mercede</a:t>
            </a:r>
            <a:endParaRPr lang="en-US" sz="16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— Orion Intelligence Agency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617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9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orionintelligenceagency.com/book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B87333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 AI Fails on Control,</a:t>
            </a:r>
            <a:endParaRPr lang="en-US" sz="3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Capability.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23774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2103120"/>
            <a:ext cx="2377440" cy="4572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3317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87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72%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14400" y="301752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enterprise AI deployments stall before production due to unresolved governance gaps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2103120"/>
            <a:ext cx="23774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83280" y="2103120"/>
            <a:ext cx="2377440" cy="4572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23317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87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$4.2M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566160" y="301752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cost of a single agentic failure in regulated environments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2103120"/>
            <a:ext cx="23774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2103120"/>
            <a:ext cx="2377440" cy="4572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23317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87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3%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217920" y="301752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organizations enforce governance at runtime — the rest rely on policy documents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47091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outruns governance. The result: compounding risk with no deterministic containment.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ENFORCEMENT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Four-Layer Control-Plane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502920" cy="6858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0876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17320" y="150876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 GATE</a:t>
            </a:r>
            <a:endParaRPr lang="en-US" sz="1500" dirty="0"/>
          </a:p>
          <a:p>
            <a:pPr algn="l" indent="0" marL="0">
              <a:buNone/>
            </a:pPr>
            <a:r>
              <a:rPr lang="en-US" sz="1000" i="1" dirty="0">
                <a:solidFill>
                  <a:srgbClr val="D49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Boundary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840480" y="150876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depends on authority. Fail-closed halt if authority cannot be verified.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949440" y="150876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B8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execution without explicit authority.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286000"/>
            <a:ext cx="804672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377440"/>
            <a:ext cx="502920" cy="6858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37744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237744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RECEIPTS</a:t>
            </a:r>
            <a:endParaRPr lang="en-US" sz="1500" dirty="0"/>
          </a:p>
          <a:p>
            <a:pPr algn="l" indent="0" marL="0">
              <a:buNone/>
            </a:pPr>
            <a:r>
              <a:rPr lang="en-US" sz="1000" i="1" dirty="0">
                <a:solidFill>
                  <a:srgbClr val="D49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Attestation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840480" y="237744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state change cryptographically attested. Append-only receipt ledger.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949440" y="237744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B8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mutation without attestation.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3154680"/>
            <a:ext cx="804672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246120"/>
            <a:ext cx="502920" cy="6858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24612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324612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GUARD</a:t>
            </a:r>
            <a:endParaRPr lang="en-US" sz="1500" dirty="0"/>
          </a:p>
          <a:p>
            <a:pPr algn="l" indent="0" marL="0">
              <a:buNone/>
            </a:pPr>
            <a:r>
              <a:rPr lang="en-US" sz="1000" i="1" dirty="0">
                <a:solidFill>
                  <a:srgbClr val="D49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Constraint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840480" y="324612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Containment across time. Authority decays. No standing execution paths.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949440" y="324612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B8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behavior without constraint.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4023360"/>
            <a:ext cx="804672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4114800"/>
            <a:ext cx="502920" cy="6858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11480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17320" y="411480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SUBSTRATE</a:t>
            </a:r>
            <a:endParaRPr lang="en-US" sz="1500" dirty="0"/>
          </a:p>
          <a:p>
            <a:pPr algn="l" indent="0" marL="0">
              <a:buNone/>
            </a:pPr>
            <a:r>
              <a:rPr lang="en-US" sz="1000" i="1" dirty="0">
                <a:solidFill>
                  <a:srgbClr val="D49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Isolation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840480" y="411480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removed, not restricted. Workload isolation at the substrate.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49440" y="41148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B8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capability without isolation.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is necessary. None is sufficient alone.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Authority Gate — Intent Boundary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37490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463040"/>
            <a:ext cx="3749040" cy="41148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630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AUTHORITY GATE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2011680"/>
            <a:ext cx="32004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receives instruction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immediately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authority verification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mutated without constraint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 discovered post-hoc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463040"/>
            <a:ext cx="37490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463040"/>
            <a:ext cx="3749040" cy="41148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4630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AUTHORITY GATE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37760" y="2011680"/>
            <a:ext cx="32004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receives instruction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evaluated at boundary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 verified deterministically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Fail-closed halt if unverified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unauthorized state mutations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572000"/>
            <a:ext cx="7680960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572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Metric: 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execution rate → 0%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2–3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Immutable Receipts + Drift Guard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374904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417320"/>
            <a:ext cx="54864" cy="27432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508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RECEIPTS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7830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Attestation Layer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05840" y="21488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→ Cryptographic hash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23774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2560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→ Append-only ledger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27889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2971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→ Non-repudiation proof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320040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05840" y="33832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→ Audit-ready artifact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1417320"/>
            <a:ext cx="374904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417320"/>
            <a:ext cx="54864" cy="27432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1508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GUARD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17830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Constraint Layer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37760" y="214884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 decay enforcement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standing execution paths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 creep detection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deviation containment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Time-bounded session constraints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4343400"/>
            <a:ext cx="7680960" cy="6400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3434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Coverage: </a:t>
            </a:r>
            <a:pPr algn="ctr" indent="0" marL="0">
              <a:buNone/>
            </a:pPr>
            <a:r>
              <a:rPr lang="en-US" sz="1600" b="1" dirty="0">
                <a:solidFill>
                  <a:srgbClr val="B8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 → 97%</a:t>
            </a:r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|     </a:t>
            </a:r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are telemetry. Receipts are enforcement artifacts.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Gated Substrate — Physical Isolation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7680960" cy="64008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17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Capability must be removed, not restricted.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2468880" cy="22860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4688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Isolation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926080"/>
            <a:ext cx="21031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environment containment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substrate between agents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boundary enforcement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0" y="2331720"/>
            <a:ext cx="2468880" cy="22860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0" y="24688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Boundary Redesign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0" y="2926080"/>
            <a:ext cx="21031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surface minimization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access scoped per-session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inherited permissions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2331720"/>
            <a:ext cx="2468880" cy="22860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0" y="24688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Prevention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0" y="2926080"/>
            <a:ext cx="21031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cannot route itself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separation of control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outside the execution path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47091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 Radius: </a:t>
            </a:r>
            <a:pPr algn="ctr" indent="0" marL="0">
              <a:buNone/>
            </a:pPr>
            <a:r>
              <a:rPr lang="en-US" sz="1300" b="1" dirty="0">
                <a:solidFill>
                  <a:srgbClr val="B8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Contained to single execution boundary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 PIPELINE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Gate Pipeline Flow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828800" cy="914400"/>
          </a:xfrm>
          <a:prstGeom prst="rect">
            <a:avLst/>
          </a:prstGeom>
          <a:solidFill>
            <a:srgbClr val="1E40A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5544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377440" y="1554480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declared.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 evaluated.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97480" y="1554480"/>
            <a:ext cx="1828800" cy="914400"/>
          </a:xfrm>
          <a:prstGeom prst="rect">
            <a:avLst/>
          </a:prstGeom>
          <a:solidFill>
            <a:srgbClr val="0F766E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97480" y="15544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26280" y="1554480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697480" y="26060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action.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generated.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1554480"/>
            <a:ext cx="1828800" cy="914400"/>
          </a:xfrm>
          <a:prstGeom prst="rect">
            <a:avLst/>
          </a:prstGeom>
          <a:solidFill>
            <a:srgbClr val="92400E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15544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675120" y="1554480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846320" y="26060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assessed.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checked.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95160" y="1554480"/>
            <a:ext cx="1828800" cy="91440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95160" y="15544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995160" y="26060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Attestation issued.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committed.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3520440"/>
            <a:ext cx="7680960" cy="54864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3749040"/>
            <a:ext cx="54864" cy="2286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3749040"/>
            <a:ext cx="7452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 Gate evaluates intent before execution begins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31520" y="4069080"/>
            <a:ext cx="54864" cy="2286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4069080"/>
            <a:ext cx="7452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ledger attests every state mutation at execution boundary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31520" y="4389120"/>
            <a:ext cx="54864" cy="2286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25" name="Text 23"/>
          <p:cNvSpPr/>
          <p:nvPr/>
        </p:nvSpPr>
        <p:spPr>
          <a:xfrm>
            <a:off x="960120" y="4389120"/>
            <a:ext cx="7452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Guard constrains behavioral deviation across time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31520" y="4709160"/>
            <a:ext cx="54864" cy="2286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27" name="Text 25"/>
          <p:cNvSpPr/>
          <p:nvPr/>
        </p:nvSpPr>
        <p:spPr>
          <a:xfrm>
            <a:off x="960120" y="4709160"/>
            <a:ext cx="7452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Substrate isolates execution environment physically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PROOF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Measured Impact of Runtime Governance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23774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417320"/>
            <a:ext cx="2377440" cy="36576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52704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B87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67%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68680" y="20116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Reduction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2860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successful AI task after enforcement deployment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83280" y="1417320"/>
            <a:ext cx="23774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1417320"/>
            <a:ext cx="2377440" cy="36576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152704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B87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94%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520440" y="20116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Reduction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20440" y="22860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interventions eliminated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1417320"/>
            <a:ext cx="23774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417320"/>
            <a:ext cx="2377440" cy="36576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16" name="Text 14"/>
          <p:cNvSpPr/>
          <p:nvPr/>
        </p:nvSpPr>
        <p:spPr>
          <a:xfrm>
            <a:off x="6172200" y="152704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B87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97%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172200" y="20116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Coverage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72200" y="22860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12% baseline to full attestation coverage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" y="3108960"/>
            <a:ext cx="23774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3108960"/>
            <a:ext cx="2377440" cy="36576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321868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B87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4.2x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868680" y="3703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Increase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8680" y="39776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task completion rate vs. ungoverned baseline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83280" y="3108960"/>
            <a:ext cx="23774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83280" y="3108960"/>
            <a:ext cx="2377440" cy="36576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26" name="Text 24"/>
          <p:cNvSpPr/>
          <p:nvPr/>
        </p:nvSpPr>
        <p:spPr>
          <a:xfrm>
            <a:off x="3520440" y="321868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B87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48hrs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3520440" y="3703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Evidence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520440" y="39776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incident to complete attestation chain delivery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35040" y="3108960"/>
            <a:ext cx="23774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35040" y="3108960"/>
            <a:ext cx="2377440" cy="36576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31" name="Text 29"/>
          <p:cNvSpPr/>
          <p:nvPr/>
        </p:nvSpPr>
        <p:spPr>
          <a:xfrm>
            <a:off x="6172200" y="321868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B87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6172200" y="3703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Mutations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172200" y="39776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exposure from ungoverned state changes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metrics from anonymized design-partner engagements.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Readiness Scan to Hardened Production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246888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371600"/>
            <a:ext cx="2468880" cy="54864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554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Scan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965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7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Complimentary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22860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45-minute assessment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4400" y="2606040"/>
            <a:ext cx="21031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697480"/>
            <a:ext cx="21031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Control-plane gap map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Failure-mode heatmap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&amp; attestation checklist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 30/60/90 roadmap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0" y="1371600"/>
            <a:ext cx="246888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74720" y="1371600"/>
            <a:ext cx="2468880" cy="54864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0" y="1554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Readiness Sprint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0" y="1965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7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$7,500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657600" y="22860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weeks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0" y="2606040"/>
            <a:ext cx="21031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0" y="2697480"/>
            <a:ext cx="21031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enforcement audit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hardening plan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Quick-win implementation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risk brief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1371600"/>
            <a:ext cx="246888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1371600"/>
            <a:ext cx="2468880" cy="5486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1554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Hardening Engagement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0" y="1965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7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$25K – $40K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400800" y="22860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6–10 weeks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0" y="2606040"/>
            <a:ext cx="21031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2697480"/>
            <a:ext cx="21031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4-layer enforcement deployment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governance integration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evidence generation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readiness certification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00400" y="27432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8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943600" y="27432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8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31520" y="48006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engagement produces enforcement artifacts — not advisory documents.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Schedule Your</a:t>
            </a:r>
            <a:endParaRPr lang="en-US" sz="4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Readiness Scan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3429000" y="2651760"/>
            <a:ext cx="2286000" cy="0"/>
          </a:xfrm>
          <a:prstGeom prst="line">
            <a:avLst/>
          </a:prstGeom>
          <a:noFill/>
          <a:ln w="25400">
            <a:solidFill>
              <a:srgbClr val="B87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8346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minutes. Four enforcement layers assessed.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roadmap delivered.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6576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orionintelligenceagency.com/book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dan@orionapexcapital.com  |  linkedin.com/in/danmercede  |  danmercede.com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6177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D495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governance isn't enforced at runtime, it isn't governance.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B87333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Runtime Governance for Enterprise AI — Executive Briefing</dc:title>
  <dc:subject>PptxGenJS Presentation</dc:subject>
  <dc:creator>Dan Mercede</dc:creator>
  <cp:lastModifiedBy>Dan Mercede</cp:lastModifiedBy>
  <cp:revision>1</cp:revision>
  <dcterms:created xsi:type="dcterms:W3CDTF">2026-02-17T08:31:11Z</dcterms:created>
  <dcterms:modified xsi:type="dcterms:W3CDTF">2026-02-17T08:31:11Z</dcterms:modified>
</cp:coreProperties>
</file>